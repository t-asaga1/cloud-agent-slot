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"/>
            <a:ext cx="12191695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148840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434840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331720"/>
            <a:ext cx="12191695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889"/>
              </a:spcAft>
            </a:pPr>
            <a:r>
              <a:rPr sz="5400" b="1">
                <a:solidFill>
                  <a:srgbClr val="D9B44A"/>
                </a:solidFill>
                <a:latin typeface="Noto Sans CJK JP"/>
                <a:ea typeface="Noto Sans CJK JP"/>
              </a:rPr>
              <a:t>スロットアプリ開発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520440"/>
            <a:ext cx="121916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0">
                <a:solidFill>
                  <a:srgbClr val="F2EFE6"/>
                </a:solidFill>
                <a:latin typeface="Noto Sans CJK JP"/>
                <a:ea typeface="Noto Sans CJK JP"/>
              </a:rPr>
              <a:t>パチスロアプリケーション「義経物語」 — これまでの作業と今後の展開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309360"/>
            <a:ext cx="118259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2026-07-20 / Cloud Agent プロジェクト報告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プロジェクト概要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義経物語</a:t>
            </a:r>
          </a:p>
        </p:txBody>
      </p:sp>
      <p:pic>
        <p:nvPicPr>
          <p:cNvPr id="8" name="Picture 7" descr="ap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783080"/>
            <a:ext cx="5852160" cy="365760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20040" y="6172200"/>
            <a:ext cx="5852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アプリ全体像(筐体 UI + 液晶 + デバッグパネル)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188720"/>
            <a:ext cx="53949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F2EFE6"/>
                </a:solidFill>
                <a:latin typeface="Noto Sans CJK JP"/>
                <a:ea typeface="Noto Sans CJK JP"/>
              </a:rPr>
              <a:t>■ オリジナル版権「義経物語」のパチスロを 1 からアプリ化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・Excel 仕様書を SPEC.md へ全転記し、確定事項 43 件を積み上げて仕様を確定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・リール制御(20 コマ × 3 リール・5 ライン・4 コマスベリ)/ 出玉抽せん / AT・上位 AT / 演出システムまで実機同等のゲームフローを実装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・Web(ブラウザ)と Windows デスクトップ(Tauri 2.x / exe 配布)の 2 形態</a:t>
            </a:r>
          </a:p>
          <a:p>
            <a:pPr algn="l">
              <a:spcAft>
                <a:spcPts val="560"/>
              </a:spcAft>
            </a:pPr>
            <a:r>
              <a:rPr sz="1600" b="1">
                <a:solidFill>
                  <a:srgbClr val="F2EFE6"/>
                </a:solidFill>
                <a:latin typeface="Noto Sans CJK JP"/>
                <a:ea typeface="Noto Sans CJK JP"/>
              </a:rPr>
              <a:t>■ 品質の担保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・自動テスト 434 件(停止制御の全押下位置網羅・抽せんテーブル検算など)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・100 万 G シミュレーションで出玉検証(機械割 約 129〜131% でユーザー承認済み)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・演出素材は AI 生成画像 + ユーザー入稿の実素材(背景動画・BGM・SE)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開発環境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技術スタックと AI 素材生成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5623560" cy="52120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166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アプリ実装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・TypeScript + React + Vite(Web)/ Vitest(テスト 434 件)/ oxlint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・Tauri 2.x(Rust)で Windows exe 化。GitHub Actions で自動ビルド・Release 配布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・コア(抽せん・リール制御)は乱数注入の純関数で、UI と完全分離</a:t>
            </a:r>
          </a:p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開発体制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・Cursor Cloud Agent(AI エージェント)による自律開発(AGENT #001〜#098)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・1 サブステップ = 1 エージェント = 1 PR の分割統治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・引継ぎ資料(HANDOVER.md)でエージェント間の文脈を継承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43000"/>
            <a:ext cx="5623560" cy="52120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5166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AI 素材生成(fal.ai を API/MCP 経由で利用)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F2EFE6"/>
                </a:solidFill>
                <a:latin typeface="Noto Sans CJK JP"/>
                <a:ea typeface="Noto Sans CJK JP"/>
              </a:rPr>
              <a:t>・画像: GPT Image 2(openai/gpt-image-2/edit)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・設定資料(顔 + 全身)を参照画像に渡して演出静止画を生成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F2EFE6"/>
                </a:solidFill>
                <a:latin typeface="Noto Sans CJK JP"/>
                <a:ea typeface="Noto Sans CJK JP"/>
              </a:rPr>
              <a:t>・動画: Seedance 2.0(bytedance/seedance-2.0)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・image-to-video / reference-to-video で演出ムービー化(顔維持ガイドライン運用)</a:t>
            </a:r>
          </a:p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生成ワークフロー 3 原則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・生成前にプロンプトをユーザー承認 → 生成物を確認 → 組込み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・指示なしの再生成禁止(API 課金の管理)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・原本は incoming/ へコミットして現物確保・manifest.json で出所管理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キャラクターデザインと画像生成パイプライン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リファレンス駆動の一貫性維持</a:t>
            </a:r>
          </a:p>
        </p:txBody>
      </p:sp>
      <p:pic>
        <p:nvPicPr>
          <p:cNvPr id="8" name="Picture 7" descr="face_義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2148840" cy="214884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32918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義経(設定資料・顔)</a:t>
            </a:r>
          </a:p>
        </p:txBody>
      </p:sp>
      <p:pic>
        <p:nvPicPr>
          <p:cNvPr id="10" name="Picture 9" descr="face_静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800" y="1097280"/>
            <a:ext cx="2148840" cy="214884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71800" y="32918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静(設定資料・顔)</a:t>
            </a:r>
          </a:p>
        </p:txBody>
      </p:sp>
      <p:pic>
        <p:nvPicPr>
          <p:cNvPr id="12" name="Picture 11" descr="face_弁慶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097280"/>
            <a:ext cx="2148840" cy="214884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40680" y="32918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弁慶(設定資料・顔)</a:t>
            </a:r>
          </a:p>
        </p:txBody>
      </p:sp>
      <p:pic>
        <p:nvPicPr>
          <p:cNvPr id="14" name="Picture 13" descr="face_頼朝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1097280"/>
            <a:ext cx="2148840" cy="2148840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7909560" y="32918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頼朝(設定資料・顔)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234440"/>
            <a:ext cx="187451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設定資料は 顔 + 全身 のペアで管理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F2EFE6"/>
                </a:solidFill>
                <a:latin typeface="Noto Sans CJK JP"/>
                <a:ea typeface="Noto Sans CJK JP"/>
              </a:rPr>
              <a:t>キャラ別の禁止事項もプロンプトへ明文化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94760"/>
            <a:ext cx="11551615" cy="260604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生成パイプライン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・① 設定資料ペア + 背景参考画像を参照に GPT Image 2 で起点静止画を生成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・② 連続するカットは前の生成画像を参照に連鎖 → 構図・キャラの一貫性を維持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・③ 静止画は 16:9 クロップ + WebP 化し「紙芝居」演出として組込み(レバーオン → 第 1 停止 → 第 3 停止で切替)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・④ 動画が必要な場合のみ Seedance 2.0 で image-to-video(顔ドリフト対策ガイドラインを適用)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・⑤ 台詞・技名・数値などの文字は画像へ焼き込まず、アプリ側でテキスト描画(差し替え耐性)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大きな作業工程(STEP 1〜6)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1 サブステップ = 1 PR で分割統治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1143000" cy="850392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9728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109728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113385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リール制御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42646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図柄 8 種・20 コマ配列・有効 5 ライン・全役の停止制御(全 20³ 押下位置 × 押し順 6 通りの網羅テスト)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49840" y="109728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0" y="109728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7FC96B"/>
                </a:solidFill>
                <a:latin typeface="Noto Sans CJK JP"/>
                <a:ea typeface="Noto Sans CJK JP"/>
              </a:rPr>
              <a:t>完了(1a〜1f)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88820"/>
            <a:ext cx="114300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98882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198882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202539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ゲームフロー状態遷移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31800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モード・前兆(偽/本)・連続演出・AT・上位 AT・エンディングの純関数ステートマシン + 100 万 G 検算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198882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98882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7FC96B"/>
                </a:solidFill>
                <a:latin typeface="Noto Sans CJK JP"/>
                <a:ea typeface="Noto Sans CJK JP"/>
              </a:rPr>
              <a:t>完了(2a〜2f)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880360"/>
            <a:ext cx="1143000" cy="850392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88036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08760" y="288036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291693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遊技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320954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リール回転アニメ・タイミング目押し・押し順ナビ・メーター・SE/BGM 連動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0" y="288036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0" y="288036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7FC96B"/>
                </a:solidFill>
                <a:latin typeface="Noto Sans CJK JP"/>
                <a:ea typeface="Noto Sans CJK JP"/>
              </a:rPr>
              <a:t>完了(3a〜3e)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771900"/>
            <a:ext cx="114300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377190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08760" y="377190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380847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演出の作り込み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410108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シナリオ抽せん・予告・連続演出・バトル 8G・エンディング演出(4f = 実素材差し替えが進行中)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49840" y="377190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9840" y="377190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E8A83C"/>
                </a:solidFill>
                <a:latin typeface="Noto Sans CJK JP"/>
                <a:ea typeface="Noto Sans CJK JP"/>
              </a:rPr>
              <a:t>4a〜4e 完了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663440"/>
            <a:ext cx="1143000" cy="850392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66344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08760" y="466344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0" y="470001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Windows exe 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499262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Tauri 2.x 導入 + GitHub Actions で NSIS/MSI/ポータブル exe を自動ビルド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49840" y="466344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466344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7FC96B"/>
                </a:solidFill>
                <a:latin typeface="Noto Sans CJK JP"/>
                <a:ea typeface="Noto Sans CJK JP"/>
              </a:rPr>
              <a:t>完了(5a〜5b)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554980"/>
            <a:ext cx="114300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5554980"/>
            <a:ext cx="114300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STEP 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08760" y="5554980"/>
            <a:ext cx="8595360" cy="850392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45920" y="5591556"/>
            <a:ext cx="8366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D9B44A"/>
                </a:solidFill>
                <a:latin typeface="Noto Sans CJK JP"/>
                <a:ea typeface="Noto Sans CJK JP"/>
              </a:rPr>
              <a:t>仕上げ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45920" y="5884164"/>
            <a:ext cx="8366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>
                <a:solidFill>
                  <a:srgbClr val="F2EFE6"/>
                </a:solidFill>
                <a:latin typeface="Noto Sans CJK JP"/>
                <a:ea typeface="Noto Sans CJK JP"/>
              </a:rPr>
              <a:t>6a 遊技データ・スランプグラフ・オートプレイ = 完了 / 6b 永続化・6c ペナルティ・6d ブランク図柄役割 = 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49840" y="5554980"/>
            <a:ext cx="1691640" cy="850392"/>
          </a:xfrm>
          <a:prstGeom prst="rect">
            <a:avLst/>
          </a:prstGeom>
          <a:solidFill>
            <a:srgbClr val="2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49840" y="5554980"/>
            <a:ext cx="1691640" cy="850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19"/>
              </a:spcAft>
            </a:pPr>
            <a:r>
              <a:rPr sz="1200" b="1">
                <a:solidFill>
                  <a:srgbClr val="E8A83C"/>
                </a:solidFill>
                <a:latin typeface="Noto Sans CJK JP"/>
                <a:ea typeface="Noto Sans CJK JP"/>
              </a:rPr>
              <a:t>6a 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演出素材の制作状況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AI 生成画像の組込み</a:t>
            </a:r>
          </a:p>
        </p:txBody>
      </p:sp>
      <p:pic>
        <p:nvPicPr>
          <p:cNvPr id="8" name="Picture 7" descr="yokok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63003"/>
            <a:ext cx="3749039" cy="2108834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320040" y="3310128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固有予告(静背景・強パターン)</a:t>
            </a:r>
          </a:p>
        </p:txBody>
      </p:sp>
      <p:pic>
        <p:nvPicPr>
          <p:cNvPr id="10" name="Picture 9" descr="batt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7" y="1163003"/>
            <a:ext cx="3749039" cy="2108834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224527" y="3310128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上位 AT バトル(共闘)</a:t>
            </a:r>
          </a:p>
        </p:txBody>
      </p:sp>
      <p:pic>
        <p:nvPicPr>
          <p:cNvPr id="12" name="Picture 11" descr="battle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4" y="1163003"/>
            <a:ext cx="3749039" cy="2108834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129014" y="3310128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復活カットイン(静)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49039"/>
            <a:ext cx="11551615" cy="26974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858768"/>
            <a:ext cx="55778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組込み済み(AI 生成 → 紙芝居方式)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・固有予告 1(義経・静・弁慶・夕方の 4 背景 × 弱/強)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・会話予告(固有 3。義経・静・弁慶・頼朝の全身 + 台詞)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・下位/上位 AT バトル紙芝居(頼朝戦・8G 構成 約 50 枚)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・エンディング・リザルト画面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58768"/>
            <a:ext cx="55321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ユーザー入稿の実素材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・背景動画 7 本・図柄 8 種・AT 確定ムービー・BGM 4 曲・SE 7 音</a:t>
            </a:r>
          </a:p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残りの制作対象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・各背景の固有予告 2(2 択系)・共通予告 1・2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・連続演出用 BGM・告知系 SE などの実素材差し替え(STEP 4f)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開発を通じて見えたもの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5623560" cy="52120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2120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AI 素材生成まわり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・顔ドリフト: 生成を重ねると設定資料から顔が乖離 → 参照連鎖 + 禁止事項の明文化 + 検品で対策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・コンテンツモデレーション: バトル(負傷・苦痛)描写が確率的に弾かれる → 表現を弱めてリトライ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・API 課金: 再生成の重複コスト → プロンプト事前承認・指示なし再生成禁止をルール化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・動画生成は静止画より不安定 → 静止画紙芝居方式へ方針転換(品質・コスト両面で有効)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43000"/>
            <a:ext cx="5623560" cy="521208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80160"/>
            <a:ext cx="52120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開発・検証まわり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・開発 VM に GPU・音声デバイスが無く、動画再生・実音は Windows 実機確認をユーザーへ依頼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・エージェント間の引継ぎ: HANDOVER.md の運用で解決したが、仕様の「正」の維持に規律が必要</a:t>
            </a:r>
          </a:p>
          <a:p>
            <a:pPr algn="l">
              <a:spcAft>
                <a:spcPts val="560"/>
              </a:spcAft>
            </a:pPr>
            <a:r>
              <a:rPr sz="1600" b="1">
                <a:solidFill>
                  <a:srgbClr val="D9B44A"/>
                </a:solidFill>
                <a:latin typeface="Noto Sans CJK JP"/>
                <a:ea typeface="Noto Sans CJK JP"/>
              </a:rPr>
              <a:t>■ 残機能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・遊技データの永続化(6b)/ 変則押しペナルティ(6c)/ ブランク図柄の役割(6d)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・残り予告素材の制作・組込み(1 予告ずつ 構図承認 → 生成 → 確認 → 組込み)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今後の作業(応用)① 作業工程の短縮化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アニメ版権を想定した自動化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11551615" cy="137160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07008"/>
            <a:ext cx="1109441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ゴール: アニメ化された版権機の開発で、アニメ素材(設定資料・映像・音声)を渡すだけで演出や仕様自体を自動生成する</a:t>
            </a:r>
          </a:p>
          <a:p>
            <a:pPr algn="l">
              <a:spcAft>
                <a:spcPts val="455"/>
              </a:spcAft>
            </a:pPr>
            <a:r>
              <a:rPr sz="1300" b="0">
                <a:solidFill>
                  <a:srgbClr val="F2EFE6"/>
                </a:solidFill>
                <a:latin typeface="Noto Sans CJK JP"/>
                <a:ea typeface="Noto Sans CJK JP"/>
              </a:rPr>
              <a:t>今回のオリジナル版権で確立した「設定資料 → 参照連鎖 → 紙芝居組込み」パイプラインを版権素材ベースへ発展させる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651760"/>
            <a:ext cx="5623560" cy="370332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61488"/>
            <a:ext cx="521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現行の版権機開発フロー(調査)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・企画 → 絵コンテ → 素材制作 → コンポジット(AfterEffects)→ オーサリング(実機組込み)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・版元からの素材支給 or 版元指定のアニメ制作会社へ新規作画を発注(スケジュール・品質のばらつきが課題)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・版権キャラを崩さないことが最重要(セルルック 3DCG 化などの技法)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・全カットが版元監修の往復対象 → 期間長期化の主要因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651760"/>
            <a:ext cx="5623560" cy="370332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761488"/>
            <a:ext cx="521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AI による短縮ポイント(構想)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・支給アニメ素材を参照画像・参照動画として GPT Image 2 / Seedance へ連鎖 → 作風を維持した新規カットを自動生成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・原作の名場面・キャラ相関から、予告体系・振分けテーブルなど演出仕様自体をエージェントが自動起案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・設定資料との一致検品(顔・衣装・色)を自動化し、監修往復を削減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・仕様書(Excel)→ SPEC 転記 → 実装 → 網羅テストの今回の流れをテンプレ化し、機種横断で再利用</a:t>
            </a:r>
          </a:p>
          <a:p>
            <a:pPr algn="l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※ 版権素材の権利処理と最終監修は人間の承認が必須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今後の作業(応用)② 実機環境での動作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実機 ROM への焼き込みを目指す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5623560" cy="525780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07008"/>
            <a:ext cx="52120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実機の制約(規則・調査結果)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・メイン基板(出玉・リール制御): ROM 16KB(制御領域 4.5KB + データ領域 3KB)・RAM 1KB(使用 512B)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・容量制約からメインプログラムは実質アセンブラで開発される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・5.5 号機以降は AT 抽せん等の出玉関連処理も全てメイン基板側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・サブ基板(演出・液晶): 容量制限が緩く C/C++ 等で開発。サブメイン(演出抽せん)+ サブサブ(液晶描画)の 2 層構成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・型式試験: 指定試験機関(保通協 / GLI Japan)の試験 → 公安委員会の検定が必要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5623560" cy="5257800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07008"/>
            <a:ext cx="52120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D9B44A"/>
                </a:solidFill>
                <a:latin typeface="Noto Sans CJK JP"/>
                <a:ea typeface="Noto Sans CJK JP"/>
              </a:rPr>
              <a:t>■ 変換アプローチ(構想)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・① コアロジック(役抽せん・リール制御・出玉)を TypeScript → C 言語へ移植。既存の網羅テスト・100 万 G シミュレーションを同値性検証ベクタとして流用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・② メイン基板相当部は容量削減の上でアセンブラ化を検討(抽せんテーブルの分母付き整数設計はそのまま活かせる)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・③ 自動変換ツール(ts2c 等)は ES3 の約 70% 対応・16bit 整数のみで実用性が限定的 → AI エージェントによる移植 + テスト同値性検証が現実的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・④ 演出層はデータ駆動設計(direction.ts の対応表)のため、サブ基板向け演出データテーブルへ変換しやすい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2EFE6"/>
                </a:solidFill>
                <a:latin typeface="Noto Sans CJK JP"/>
                <a:ea typeface="Noto Sans CJK JP"/>
              </a:rPr>
              <a:t>・⑤ 液晶素材の実機フォーマット変換 → 評価ボードでの動作確認へ段階的に進める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2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64592"/>
            <a:ext cx="63500" cy="512064"/>
          </a:xfrm>
          <a:prstGeom prst="rect">
            <a:avLst/>
          </a:prstGeom>
          <a:solidFill>
            <a:srgbClr val="C03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"/>
            <a:ext cx="9601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910"/>
              </a:spcAft>
            </a:pPr>
            <a:r>
              <a:rPr sz="2600" b="1">
                <a:solidFill>
                  <a:srgbClr val="D9B44A"/>
                </a:solidFill>
                <a:latin typeface="Noto Sans CJK JP"/>
                <a:ea typeface="Noto Sans CJK JP"/>
              </a:rPr>
              <a:t>まとめ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73152"/>
            <a:ext cx="4389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19"/>
              </a:spcAft>
            </a:pPr>
            <a:r>
              <a:rPr sz="1200" b="0">
                <a:solidFill>
                  <a:srgbClr val="B9B2C8"/>
                </a:solidFill>
                <a:latin typeface="Noto Sans CJK JP"/>
                <a:ea typeface="Noto Sans CJK JP"/>
              </a:rPr>
              <a:t>ロードマップ</a:t>
            </a:r>
          </a:p>
        </p:txBody>
      </p:sp>
      <p:pic>
        <p:nvPicPr>
          <p:cNvPr id="8" name="Picture 7" descr="bat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44441"/>
            <a:ext cx="5166360" cy="2906077"/>
          </a:xfrm>
          <a:prstGeom prst="rect">
            <a:avLst/>
          </a:prstGeom>
          <a:ln w="15875">
            <a:solidFill>
              <a:srgbClr val="D9B4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4160520"/>
            <a:ext cx="5166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67"/>
              </a:spcAft>
            </a:pPr>
            <a:r>
              <a:rPr sz="1050" b="0">
                <a:solidFill>
                  <a:srgbClr val="B9B2C8"/>
                </a:solidFill>
                <a:latin typeface="Noto Sans CJK JP"/>
                <a:ea typeface="Noto Sans CJK JP"/>
              </a:rPr>
              <a:t>義経 × 頼朝 — 上位 AT バトル(AI 生成)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94"/>
              </a:spcAft>
            </a:pPr>
            <a:r>
              <a:rPr sz="1700" b="1">
                <a:solidFill>
                  <a:srgbClr val="D9B44A"/>
                </a:solidFill>
                <a:latin typeface="Noto Sans CJK JP"/>
                <a:ea typeface="Noto Sans CJK JP"/>
              </a:rPr>
              <a:t>■ 現在地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・ゲーム本体(リール制御〜演出〜exe 化)は完成。演出素材の制作・組込みフェーズ</a:t>
            </a:r>
          </a:p>
          <a:p>
            <a:pPr algn="l">
              <a:spcAft>
                <a:spcPts val="594"/>
              </a:spcAft>
            </a:pPr>
            <a:r>
              <a:rPr sz="1700" b="1">
                <a:solidFill>
                  <a:srgbClr val="D9B44A"/>
                </a:solidFill>
                <a:latin typeface="Noto Sans CJK JP"/>
                <a:ea typeface="Noto Sans CJK JP"/>
              </a:rPr>
              <a:t>■ 短期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・残り予告素材の制作・組込み / STEP 6 の永続化ほか / Windows 実機確認</a:t>
            </a:r>
          </a:p>
          <a:p>
            <a:pPr algn="l">
              <a:spcAft>
                <a:spcPts val="594"/>
              </a:spcAft>
            </a:pPr>
            <a:r>
              <a:rPr sz="1700" b="1">
                <a:solidFill>
                  <a:srgbClr val="D9B44A"/>
                </a:solidFill>
                <a:latin typeface="Noto Sans CJK JP"/>
                <a:ea typeface="Noto Sans CJK JP"/>
              </a:rPr>
              <a:t>■ 中期(応用 ①)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・アニメ版権素材を起点にした演出・仕様の自動生成パイプライン化</a:t>
            </a:r>
          </a:p>
          <a:p>
            <a:pPr algn="l">
              <a:spcAft>
                <a:spcPts val="594"/>
              </a:spcAft>
            </a:pPr>
            <a:r>
              <a:rPr sz="1700" b="1">
                <a:solidFill>
                  <a:srgbClr val="D9B44A"/>
                </a:solidFill>
                <a:latin typeface="Noto Sans CJK JP"/>
                <a:ea typeface="Noto Sans CJK JP"/>
              </a:rPr>
              <a:t>■ 長期(応用 ②)</a:t>
            </a:r>
          </a:p>
          <a:p>
            <a:pPr algn="l">
              <a:spcAft>
                <a:spcPts val="472"/>
              </a:spcAft>
            </a:pPr>
            <a:r>
              <a:rPr sz="1350" b="0">
                <a:solidFill>
                  <a:srgbClr val="F2EFE6"/>
                </a:solidFill>
                <a:latin typeface="Noto Sans CJK JP"/>
                <a:ea typeface="Noto Sans CJK JP"/>
              </a:rPr>
              <a:t>・C 言語 / アセンブラへの移植と実機 ROM 化(型式試験対応を見据えた設計)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5989320"/>
            <a:ext cx="11551615" cy="31750"/>
          </a:xfrm>
          <a:prstGeom prst="rect">
            <a:avLst/>
          </a:prstGeom>
          <a:solidFill>
            <a:srgbClr val="D9B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1722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25"/>
              </a:spcAft>
            </a:pPr>
            <a:r>
              <a:rPr sz="1500" b="1">
                <a:solidFill>
                  <a:srgbClr val="F2EFE6"/>
                </a:solidFill>
                <a:latin typeface="Noto Sans CJK JP"/>
                <a:ea typeface="Noto Sans CJK JP"/>
              </a:rPr>
              <a:t>AI エージェント駆動開発で「仕様 → 実装 → 素材 → 実機」までを一気通貫に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