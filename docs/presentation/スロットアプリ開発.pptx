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148840"/>
            <a:ext cx="12191695" cy="2286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48840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434840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331720"/>
            <a:ext cx="1219169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889"/>
              </a:spcAft>
            </a:pPr>
            <a:r>
              <a:rPr sz="5400" b="1">
                <a:solidFill>
                  <a:srgbClr val="D9B44A"/>
                </a:solidFill>
                <a:latin typeface="Noto Sans CJK JP"/>
                <a:ea typeface="Noto Sans CJK JP"/>
              </a:rPr>
              <a:t>スロットアプリ開発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0">
                <a:solidFill>
                  <a:srgbClr val="F2EFE6"/>
                </a:solidFill>
                <a:latin typeface="Noto Sans CJK JP"/>
                <a:ea typeface="Noto Sans CJK JP"/>
              </a:rPr>
              <a:t>パチスロアプリケーション「義経物語」 — これまでの作業と今後の展開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9360"/>
            <a:ext cx="118259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2026-07-20 / Cloud Agent プロジェクト報告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プロジェクト概要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義経物語</a:t>
            </a:r>
          </a:p>
        </p:txBody>
      </p:sp>
      <p:pic>
        <p:nvPicPr>
          <p:cNvPr id="8" name="Picture 7" descr="ap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83080"/>
            <a:ext cx="5852160" cy="3657600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20040" y="617220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アプリ全体像(筐体 UI + 液晶 + デバッグパネル)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3949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F2EFE6"/>
                </a:solidFill>
                <a:latin typeface="Noto Sans CJK JP"/>
                <a:ea typeface="Noto Sans CJK JP"/>
              </a:rPr>
              <a:t>■ オリジナル版権「義経物語」のパチスロを 1 からアプリ化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・Excel 仕様書を SPEC.md へ全転記し、確定事項 43 件を積み上げて仕様を確定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・リール制御(20 コマ × 3 リール・5 ライン・4 コマスベリ)/ 出玉抽せん / AT・上位 AT / 演出システムまで実機同等のゲームフローを実装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・Web(ブラウザ)と Windows デスクトップ(Tauri 2.x / exe 配布)の 2 形態</a:t>
            </a:r>
          </a:p>
          <a:p>
            <a:pPr algn="l">
              <a:spcAft>
                <a:spcPts val="560"/>
              </a:spcAft>
            </a:pPr>
            <a:r>
              <a:rPr sz="1600" b="1">
                <a:solidFill>
                  <a:srgbClr val="F2EFE6"/>
                </a:solidFill>
                <a:latin typeface="Noto Sans CJK JP"/>
                <a:ea typeface="Noto Sans CJK JP"/>
              </a:rPr>
              <a:t>■ 品質の担保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・自動テスト 434 件(停止制御の全押下位置網羅・抽せんテーブル検算など)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・100 万 G シミュレーションで出玉検証(機械割 約 129〜131% でユーザー承認済み)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・演出素材は AI 生成画像 + ユーザー入稿の実素材(背景動画・BGM・SE)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開発環境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技術スタックと AI 素材生成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23560" cy="521208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66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アプリ実装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・TypeScript + React + Vite(Web)/ Vitest(テスト 434 件)/ oxlint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・Tauri 2.x(Rust)で Windows exe 化。GitHub Actions で自動ビルド・Release 配布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・コア(抽せん・リール制御)は乱数注入の純関数で、UI と完全分離</a:t>
            </a:r>
          </a:p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開発体制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・Cursor Cloud Agent(AI エージェント)による自律開発(AGENT #001〜#098)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・1 サブステップ = 1 エージェント = 1 PR の分割統治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・引継ぎ資料(HANDOVER.md)でエージェント間の文脈を継承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23560" cy="521208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166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AI 素材生成(fal.ai を API/MCP 経由で利用)</a:t>
            </a:r>
          </a:p>
          <a:p>
            <a:pPr algn="l">
              <a:spcAft>
                <a:spcPts val="455"/>
              </a:spcAft>
            </a:pPr>
            <a:r>
              <a:rPr sz="1300" b="1">
                <a:solidFill>
                  <a:srgbClr val="F2EFE6"/>
                </a:solidFill>
                <a:latin typeface="Noto Sans CJK JP"/>
                <a:ea typeface="Noto Sans CJK JP"/>
              </a:rPr>
              <a:t>・画像: GPT Image 2(openai/gpt-image-2/edit)</a:t>
            </a:r>
          </a:p>
          <a:p>
            <a:pPr algn="l" lvl="1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・設定資料(顔 + 全身)を参照画像に渡して演出静止画を生成</a:t>
            </a:r>
          </a:p>
          <a:p>
            <a:pPr algn="l">
              <a:spcAft>
                <a:spcPts val="455"/>
              </a:spcAft>
            </a:pPr>
            <a:r>
              <a:rPr sz="1300" b="1">
                <a:solidFill>
                  <a:srgbClr val="F2EFE6"/>
                </a:solidFill>
                <a:latin typeface="Noto Sans CJK JP"/>
                <a:ea typeface="Noto Sans CJK JP"/>
              </a:rPr>
              <a:t>・動画: Seedance 2.0(bytedance/seedance-2.0)</a:t>
            </a:r>
          </a:p>
          <a:p>
            <a:pPr algn="l" lvl="1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・image-to-video / reference-to-video で演出ムービー化(顔維持ガイドライン運用)</a:t>
            </a:r>
          </a:p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生成ワークフロー 3 原則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・生成前にプロンプトをユーザー承認 → 生成物を確認 → 組込み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・指示なしの再生成禁止(API 課金の管理)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・原本は incoming/ へコミットして現物確保・manifest.json で出所管理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キャラクターデザインと画像生成パイプライン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リファレンス駆動の一貫性維持</a:t>
            </a:r>
          </a:p>
        </p:txBody>
      </p:sp>
      <p:pic>
        <p:nvPicPr>
          <p:cNvPr id="8" name="Picture 7" descr="face_義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2148840" cy="2148840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義経(設定資料・顔)</a:t>
            </a:r>
          </a:p>
        </p:txBody>
      </p:sp>
      <p:pic>
        <p:nvPicPr>
          <p:cNvPr id="10" name="Picture 9" descr="face_静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097280"/>
            <a:ext cx="2148840" cy="2148840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71800" y="3291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静(設定資料・顔)</a:t>
            </a:r>
          </a:p>
        </p:txBody>
      </p:sp>
      <p:pic>
        <p:nvPicPr>
          <p:cNvPr id="12" name="Picture 11" descr="face_弁慶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097280"/>
            <a:ext cx="2148840" cy="2148840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40680" y="3291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弁慶(設定資料・顔)</a:t>
            </a:r>
          </a:p>
        </p:txBody>
      </p:sp>
      <p:pic>
        <p:nvPicPr>
          <p:cNvPr id="14" name="Picture 13" descr="face_頼朝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097280"/>
            <a:ext cx="2148840" cy="2148840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909560" y="32918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頼朝(設定資料・顔)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1234440"/>
            <a:ext cx="187451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設定資料は 顔 + 全身 のペアで管理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キャラ別の禁止事項もプロンプトへ明文化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94760"/>
            <a:ext cx="11551615" cy="260604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0944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生成パイプライン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・① 設定資料ペア + 背景参考画像を参照に GPT Image 2 で起点静止画を生成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・② 連続するカットは前の生成画像を参照に連鎖 → 構図・キャラの一貫性を維持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・③ 静止画は 16:9 クロップ + WebP 化し「紙芝居」演出として組込み(レバーオン → 第 1 停止 → 第 3 停止で切替)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・④ 動画が必要な場合のみ Seedance 2.0 で image-to-video(顔ドリフト対策ガイドラインを適用)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・⑤ 台詞・技名・数値などの文字は画像へ焼き込まず、アプリ側でテキスト描画(差し替え耐性)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大きな作業工程(STEP 1〜6)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1 サブステップ = 1 PR で分割統治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43000" cy="850392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11430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STEP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097280"/>
            <a:ext cx="8595360" cy="850392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133856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D9B44A"/>
                </a:solidFill>
                <a:latin typeface="Noto Sans CJK JP"/>
                <a:ea typeface="Noto Sans CJK JP"/>
              </a:rPr>
              <a:t>リール制御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426464"/>
            <a:ext cx="8366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F2EFE6"/>
                </a:solidFill>
                <a:latin typeface="Noto Sans CJK JP"/>
                <a:ea typeface="Noto Sans CJK JP"/>
              </a:rPr>
              <a:t>図柄 8 種・20 コマ配列・有効 5 ライン・全役の停止制御(全 20³ 押下位置 × 押し順 6 通りの網羅テスト)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097280"/>
            <a:ext cx="169164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1097280"/>
            <a:ext cx="169164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1">
                <a:solidFill>
                  <a:srgbClr val="7FC96B"/>
                </a:solidFill>
                <a:latin typeface="Noto Sans CJK JP"/>
                <a:ea typeface="Noto Sans CJK JP"/>
              </a:rPr>
              <a:t>完了(1a〜1f)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88820"/>
            <a:ext cx="114300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988820"/>
            <a:ext cx="11430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STEP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988820"/>
            <a:ext cx="8595360" cy="850392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025396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D9B44A"/>
                </a:solidFill>
                <a:latin typeface="Noto Sans CJK JP"/>
                <a:ea typeface="Noto Sans CJK JP"/>
              </a:rPr>
              <a:t>ゲームフロー状態遷移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318004"/>
            <a:ext cx="8366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F2EFE6"/>
                </a:solidFill>
                <a:latin typeface="Noto Sans CJK JP"/>
                <a:ea typeface="Noto Sans CJK JP"/>
              </a:rPr>
              <a:t>モード・前兆(偽/本)・連続演出・AT・上位 AT・エンディングの純関数ステートマシン + 100 万 G 検算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1988820"/>
            <a:ext cx="169164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988820"/>
            <a:ext cx="169164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1">
                <a:solidFill>
                  <a:srgbClr val="7FC96B"/>
                </a:solidFill>
                <a:latin typeface="Noto Sans CJK JP"/>
                <a:ea typeface="Noto Sans CJK JP"/>
              </a:rPr>
              <a:t>完了(2a〜2f)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80360"/>
            <a:ext cx="1143000" cy="850392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80360"/>
            <a:ext cx="11430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STEP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2880360"/>
            <a:ext cx="8595360" cy="850392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2916936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D9B44A"/>
                </a:solidFill>
                <a:latin typeface="Noto Sans CJK JP"/>
                <a:ea typeface="Noto Sans CJK JP"/>
              </a:rPr>
              <a:t>遊技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209544"/>
            <a:ext cx="8366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F2EFE6"/>
                </a:solidFill>
                <a:latin typeface="Noto Sans CJK JP"/>
                <a:ea typeface="Noto Sans CJK JP"/>
              </a:rPr>
              <a:t>リール回転アニメ・タイミング目押し・押し順ナビ・メーター・SE/BGM 連動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2880360"/>
            <a:ext cx="169164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2880360"/>
            <a:ext cx="169164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1">
                <a:solidFill>
                  <a:srgbClr val="7FC96B"/>
                </a:solidFill>
                <a:latin typeface="Noto Sans CJK JP"/>
                <a:ea typeface="Noto Sans CJK JP"/>
              </a:rPr>
              <a:t>完了(3a〜3e)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71900"/>
            <a:ext cx="114300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771900"/>
            <a:ext cx="11430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STEP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3771900"/>
            <a:ext cx="8595360" cy="850392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3808476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D9B44A"/>
                </a:solidFill>
                <a:latin typeface="Noto Sans CJK JP"/>
                <a:ea typeface="Noto Sans CJK JP"/>
              </a:rPr>
              <a:t>演出の作り込み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101084"/>
            <a:ext cx="8366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F2EFE6"/>
                </a:solidFill>
                <a:latin typeface="Noto Sans CJK JP"/>
                <a:ea typeface="Noto Sans CJK JP"/>
              </a:rPr>
              <a:t>シナリオ抽せん・予告・連続演出・バトル 8G・エンディング演出(4f = 実素材差し替えが進行中)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3771900"/>
            <a:ext cx="169164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3771900"/>
            <a:ext cx="169164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1">
                <a:solidFill>
                  <a:srgbClr val="E8A83C"/>
                </a:solidFill>
                <a:latin typeface="Noto Sans CJK JP"/>
                <a:ea typeface="Noto Sans CJK JP"/>
              </a:rPr>
              <a:t>4a〜4e 完了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63440"/>
            <a:ext cx="1143000" cy="850392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663440"/>
            <a:ext cx="11430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STEP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4663440"/>
            <a:ext cx="8595360" cy="850392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4700016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D9B44A"/>
                </a:solidFill>
                <a:latin typeface="Noto Sans CJK JP"/>
                <a:ea typeface="Noto Sans CJK JP"/>
              </a:rPr>
              <a:t>Windows exe 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4992624"/>
            <a:ext cx="8366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F2EFE6"/>
                </a:solidFill>
                <a:latin typeface="Noto Sans CJK JP"/>
                <a:ea typeface="Noto Sans CJK JP"/>
              </a:rPr>
              <a:t>Tauri 2.x 導入 + GitHub Actions で NSIS/MSI/ポータブル exe を自動ビルド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4663440"/>
            <a:ext cx="169164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4663440"/>
            <a:ext cx="169164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1">
                <a:solidFill>
                  <a:srgbClr val="7FC96B"/>
                </a:solidFill>
                <a:latin typeface="Noto Sans CJK JP"/>
                <a:ea typeface="Noto Sans CJK JP"/>
              </a:rPr>
              <a:t>完了(5a〜5b)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554980"/>
            <a:ext cx="114300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554980"/>
            <a:ext cx="114300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STEP 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8760" y="5554980"/>
            <a:ext cx="8595360" cy="850392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5591556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D9B44A"/>
                </a:solidFill>
                <a:latin typeface="Noto Sans CJK JP"/>
                <a:ea typeface="Noto Sans CJK JP"/>
              </a:rPr>
              <a:t>仕上げ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5884164"/>
            <a:ext cx="8366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F2EFE6"/>
                </a:solidFill>
                <a:latin typeface="Noto Sans CJK JP"/>
                <a:ea typeface="Noto Sans CJK JP"/>
              </a:rPr>
              <a:t>6a 遊技データ・スランプグラフ・オートプレイ = 完了 / 6b 永続化・6c ペナルティ・6d ブランク図柄役割 = 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5554980"/>
            <a:ext cx="1691640" cy="850392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0" y="5554980"/>
            <a:ext cx="1691640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1">
                <a:solidFill>
                  <a:srgbClr val="E8A83C"/>
                </a:solidFill>
                <a:latin typeface="Noto Sans CJK JP"/>
                <a:ea typeface="Noto Sans CJK JP"/>
              </a:rPr>
              <a:t>6a 完了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演出素材の制作状況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AI 生成画像の組込み</a:t>
            </a:r>
          </a:p>
        </p:txBody>
      </p:sp>
      <p:pic>
        <p:nvPicPr>
          <p:cNvPr id="8" name="Picture 7" descr="yokok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63003"/>
            <a:ext cx="3749039" cy="2108834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20040" y="33101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固有予告(静背景・強パターン)</a:t>
            </a:r>
          </a:p>
        </p:txBody>
      </p:sp>
      <p:pic>
        <p:nvPicPr>
          <p:cNvPr id="10" name="Picture 9" descr="bat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7" y="1163003"/>
            <a:ext cx="3749039" cy="2108834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224527" y="33101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上位 AT バトル(共闘)</a:t>
            </a:r>
          </a:p>
        </p:txBody>
      </p:sp>
      <p:pic>
        <p:nvPicPr>
          <p:cNvPr id="12" name="Picture 11" descr="battl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4" y="1163003"/>
            <a:ext cx="3749039" cy="2108834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129014" y="33101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復活カットイン(静)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11551615" cy="269748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5577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組込み済み(AI 生成 → 紙芝居方式)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・固有予告 1(義経・静・弁慶・夕方の 4 背景 × 弱/強)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・会話予告(固有 3。義経・静・弁慶・頼朝の全身 + 台詞)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・下位/上位 AT バトル紙芝居(頼朝戦・8G 構成 約 50 枚)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・エンディング・リザルト画面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58768"/>
            <a:ext cx="5532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ユーザー入稿の実素材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・背景動画 7 本・図柄 8 種・AT 確定ムービー・BGM 4 曲・SE 7 音</a:t>
            </a:r>
          </a:p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残りの制作対象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・各背景の固有予告 2(2 択系)・共通予告 1・2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・連続演出用 BGM・告知系 SE などの実素材差し替え(STEP 4f)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開発を通じて見えたもの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23560" cy="521208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AI 素材生成まわり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・顔ドリフト: 生成を重ねると設定資料から顔が乖離 → 参照連鎖 + 禁止事項の明文化 + 検品で対策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・コンテンツモデレーション: バトル(負傷・苦痛)描写が確率的に弾かれる → 表現を弱めてリトライ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・API 課金: 再生成の重複コスト → プロンプト事前承認・指示なし再生成禁止をルール化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・動画生成は静止画より不安定 → 静止画紙芝居方式へ方針転換(品質・コスト両面で有効)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23560" cy="521208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開発・検証まわり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・開発 VM に GPU・音声デバイスが無く、動画再生・実音は Windows 実機確認をユーザーへ依頼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・エージェント間の引継ぎ: HANDOVER.md の運用で解決したが、仕様の「正」の維持に規律が必要</a:t>
            </a:r>
          </a:p>
          <a:p>
            <a:pPr algn="l">
              <a:spcAft>
                <a:spcPts val="560"/>
              </a:spcAft>
            </a:pPr>
            <a:r>
              <a:rPr sz="1600" b="1">
                <a:solidFill>
                  <a:srgbClr val="D9B44A"/>
                </a:solidFill>
                <a:latin typeface="Noto Sans CJK JP"/>
                <a:ea typeface="Noto Sans CJK JP"/>
              </a:rPr>
              <a:t>■ 残機能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・遊技データの永続化(6b)/ 変則押しペナルティ(6c)/ ブランク図柄の役割(6d)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・残り予告素材の制作・組込み(1 予告ずつ 構図承認 → 生成 → 確認 → 組込み)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今後の作業(応用)① 作業工程の短縮化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アニメ版権を想定した自動化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51615" cy="137160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110944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ゴール: アニメ化された版権機の開発で、アニメ素材(設定資料・映像・音声)を渡すだけで演出や仕様自体を自動生成する</a:t>
            </a:r>
          </a:p>
          <a:p>
            <a:pPr algn="l">
              <a:spcAft>
                <a:spcPts val="455"/>
              </a:spcAft>
            </a:pPr>
            <a:r>
              <a:rPr sz="1300" b="0">
                <a:solidFill>
                  <a:srgbClr val="F2EFE6"/>
                </a:solidFill>
                <a:latin typeface="Noto Sans CJK JP"/>
                <a:ea typeface="Noto Sans CJK JP"/>
              </a:rPr>
              <a:t>今回のオリジナル版権で確立した「設定資料 → 参照連鎖 → 紙芝居組込み」パイプラインを版権素材ベースへ発展させる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623560" cy="320040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52120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現行の版権機開発フロー(調査)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・企画 → 絵コンテ → 素材制作 → コンポジット(AfterEffects)→ オーサリング(実機組込み)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・版元からの素材支給 or 版元指定のアニメ制作会社へ新規作画を発注(スケジュール・品質のばらつきが課題)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・版権キャラを崩さないことが最重要(セルルック 3DCG 化などの技法)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・全カットが版元監修の往復対象 → 期間長期化の主要因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06040"/>
            <a:ext cx="5623560" cy="320040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15768"/>
            <a:ext cx="52120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AI による短縮ポイント(構想)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・支給アニメ素材を参照画像・参照動画として GPT Image 2 / Seedance へ連鎖 → 作風を維持した新規カットを自動生成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・原作の名場面・キャラ相関から、予告体系・振分けテーブルなど演出仕様自体をエージェントが自動起案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・設定資料との一致検品(顔・衣装・色)を自動化し、監修往復を削減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・仕様書(Excel)→ SPEC 転記 → 実装 → 網羅テストの今回の流れをテンプレ化し、機種横断で再利用</a:t>
            </a:r>
          </a:p>
          <a:p>
            <a:pPr algn="l">
              <a:spcAft>
                <a:spcPts val="402"/>
              </a:spcAft>
            </a:pPr>
            <a:r>
              <a:rPr sz="1150" b="0">
                <a:solidFill>
                  <a:srgbClr val="B9B2C8"/>
                </a:solidFill>
                <a:latin typeface="Noto Sans CJK JP"/>
                <a:ea typeface="Noto Sans CJK JP"/>
              </a:rPr>
              <a:t>※ 版権素材の権利処理と最終監修は人間の承認が必須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943600"/>
            <a:ext cx="11551615" cy="777240"/>
          </a:xfrm>
          <a:prstGeom prst="rect">
            <a:avLst/>
          </a:prstGeom>
          <a:solidFill>
            <a:srgbClr val="2B2440"/>
          </a:solidFill>
          <a:ln w="12700">
            <a:solidFill>
              <a:srgbClr val="D9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98464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7"/>
              </a:spcAft>
            </a:pPr>
            <a:r>
              <a:rPr sz="1250" b="1">
                <a:solidFill>
                  <a:srgbClr val="E8A83C"/>
                </a:solidFill>
                <a:latin typeface="Noto Sans CJK JP"/>
                <a:ea typeface="Noto Sans CJK JP"/>
              </a:rPr>
              <a:t>日程感(目安): 生成パイプライン試作(PoC)約 1〜2 ヶ月 → 1 機種分の演出・仕様自動起案の実証 約 2〜3 ヶ月 → テンプレ化・横展開 約 1 ヶ月(計 約 4〜6 ヶ月)</a:t>
            </a:r>
          </a:p>
          <a:p>
            <a:pPr algn="l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※ 版元の素材支給・監修往復の待ち時間は含まない(ここが実期間の最大変動要因)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今後の作業(応用)② 実機環境での動作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実機 ROM への焼き込みを目指す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623560" cy="470916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5212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実機の制約(規則・調査結果)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・メイン基板(出玉・リール制御): ROM 16KB(制御領域 4.5KB + データ領域 3KB)・RAM 1KB(使用 512B)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・容量制約からメインプログラムは実質アセンブラで開発される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・5.5 号機以降は AT 抽せん等の出玉関連処理も全てメイン基板側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・サブ基板(演出・液晶): 容量制限が緩く C/C++ 等で開発。サブメイン(演出抽せん)+ サブサブ(液晶描画)の 2 層構成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・型式試験: 指定試験機関(保通協 / GLI Japan)の試験 → 公安委員会の検定が必要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623560" cy="470916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07008"/>
            <a:ext cx="5212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■ 変換アプローチ(構想)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・① コアロジック(役抽せん・リール制御・出玉)を TypeScript → C 言語へ移植。既存の網羅テスト・100 万 G シミュレーションを同値性検証ベクタとして流用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・② メイン基板相当部は容量削減の上でアセンブラ化を検討(抽せんテーブルの分母付き整数設計はそのまま活かせる)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・③ 自動変換ツール(ts2c 等)は ES3 の約 70% 対応・16bit 整数のみで実用性が限定的 → AI エージェントによる移植 + テスト同値性検証が現実的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・④ 演出層はデータ駆動設計(direction.ts の対応表)のため、サブ基板向け演出データテーブルへ変換しやすい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F2EFE6"/>
                </a:solidFill>
                <a:latin typeface="Noto Sans CJK JP"/>
                <a:ea typeface="Noto Sans CJK JP"/>
              </a:rPr>
              <a:t>・⑤ 液晶素材の実機フォーマット変換 → 評価ボードでの動作確認へ段階的に進める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897880"/>
            <a:ext cx="11551615" cy="822960"/>
          </a:xfrm>
          <a:prstGeom prst="rect">
            <a:avLst/>
          </a:prstGeom>
          <a:solidFill>
            <a:srgbClr val="2B2440"/>
          </a:solidFill>
          <a:ln w="12700">
            <a:solidFill>
              <a:srgbClr val="D9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52744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7"/>
              </a:spcAft>
            </a:pPr>
            <a:r>
              <a:rPr sz="1250" b="1">
                <a:solidFill>
                  <a:srgbClr val="E8A83C"/>
                </a:solidFill>
                <a:latin typeface="Noto Sans CJK JP"/>
                <a:ea typeface="Noto Sans CJK JP"/>
              </a:rPr>
              <a:t>日程感(目安): ① C 言語移植 + 同値性検証 約 2〜3 ヶ月 → ② アセンブラ化・容量最適化(16KB/1KB 適合)約 3〜6 ヶ月 → ⑤ 評価ボード動作確認まで 通算 約 6 ヶ月〜1 年</a:t>
            </a:r>
          </a:p>
          <a:p>
            <a:pPr algn="l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※ 実機ハード(基板・リールユニット)の調達と型式試験対応はメーカー協業が前提のため別枠(試験申請〜結果通知だけで数ヶ月規模)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今後の作業(応用)③ 素材受領 → 実機デモまでの日数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①②が確立した後のリードタイム試算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1551615" cy="91440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D9B44A"/>
                </a:solidFill>
                <a:latin typeface="Noto Sans CJK JP"/>
                <a:ea typeface="Noto Sans CJK JP"/>
              </a:rPr>
              <a:t>最終目的: 版権取得プレゼンの場で実機が既に動作している状態を作り、完成品をイメージさせる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2EFE6"/>
                </a:solidFill>
                <a:latin typeface="Noto Sans CJK JP"/>
                <a:ea typeface="Noto Sans CJK JP"/>
              </a:rPr>
              <a:t>ターゲット: アニメ素材の受領から 2 週間で「肝」の動作確認(通常時遊技 + 代表演出 + AT バトル 1 系統。全演出の網羅・完璧さは求めない)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1051560" cy="46634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103120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2103120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素材の受領・検品・参照資料整備(設定資料ペア化)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103120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1 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19756"/>
            <a:ext cx="105156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619756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2〜3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2619756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7048" y="2619756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仕様の自動起案(スペック・演出体系)→ 人の承認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619756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619756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1〜2 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36392"/>
            <a:ext cx="1051560" cy="46634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136392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3〜5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3136392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7048" y="3136392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ゲームロジック実装(テンプレへのパラメータ差し替え)+ 網羅テスト・出玉シミュレーション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136392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36392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2 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53028"/>
            <a:ext cx="105156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653028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3〜7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3653028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27048" y="3653028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演出素材の AI 生成・検品(ロジック実装と並行)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653028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653028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3〜4 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169664"/>
            <a:ext cx="1051560" cy="46634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169664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8〜9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4169664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27048" y="4169664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Web アプリへ統合・通しの動作確認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169664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169664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2 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686300"/>
            <a:ext cx="105156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686300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10〜12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4686300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7048" y="4686300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実機向け変換(C/演出データテーブルの差し替え + 同値性検証)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686300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686300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2〜3 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202936"/>
            <a:ext cx="1051560" cy="46634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202936"/>
            <a:ext cx="10515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84"/>
              </a:spcAft>
            </a:pPr>
            <a:r>
              <a:rPr sz="1100" b="1">
                <a:solidFill>
                  <a:srgbClr val="F2EFE6"/>
                </a:solidFill>
                <a:latin typeface="Noto Sans CJK JP"/>
                <a:ea typeface="Noto Sans CJK JP"/>
              </a:rPr>
              <a:t>Day 13〜15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17320" y="5202936"/>
            <a:ext cx="4983480" cy="466344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27048" y="5202936"/>
            <a:ext cx="48463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67"/>
              </a:spcAft>
            </a:pPr>
            <a:r>
              <a:rPr sz="1050" b="0">
                <a:solidFill>
                  <a:srgbClr val="F2EFE6"/>
                </a:solidFill>
                <a:latin typeface="Noto Sans CJK JP"/>
                <a:ea typeface="Noto Sans CJK JP"/>
              </a:rPr>
              <a:t>実機(評価ボード・筐体)への組込み・調整・プレゼンリハーサル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202936"/>
            <a:ext cx="685800" cy="466344"/>
          </a:xfrm>
          <a:prstGeom prst="rect">
            <a:avLst/>
          </a:prstGeom>
          <a:solidFill>
            <a:srgbClr val="2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202936"/>
            <a:ext cx="68580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1">
                <a:solidFill>
                  <a:srgbClr val="E8A83C"/>
                </a:solidFill>
                <a:latin typeface="Noto Sans CJK JP"/>
                <a:ea typeface="Noto Sans CJK JP"/>
              </a:rPr>
              <a:t>2〜3 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2103120"/>
            <a:ext cx="4526280" cy="3566160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6368" y="2212848"/>
            <a:ext cx="41605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D9B44A"/>
                </a:solidFill>
                <a:latin typeface="Noto Sans CJK JP"/>
                <a:ea typeface="Noto Sans CJK JP"/>
              </a:rPr>
              <a:t>■ 2 週間を成立させる前提条件</a:t>
            </a:r>
          </a:p>
          <a:p>
            <a:pPr algn="l">
              <a:spcAft>
                <a:spcPts val="402"/>
              </a:spcAft>
            </a:pPr>
            <a:r>
              <a:rPr sz="1150" b="0">
                <a:solidFill>
                  <a:srgbClr val="F2EFE6"/>
                </a:solidFill>
                <a:latin typeface="Noto Sans CJK JP"/>
                <a:ea typeface="Noto Sans CJK JP"/>
              </a:rPr>
              <a:t>・実機ハード一式(基板・リールユニット・筐体)は事前調達・動作確認済み(当日手配は不可。最大のリスク要因)</a:t>
            </a:r>
          </a:p>
          <a:p>
            <a:pPr algn="l">
              <a:spcAft>
                <a:spcPts val="402"/>
              </a:spcAft>
            </a:pPr>
            <a:r>
              <a:rPr sz="1150" b="0">
                <a:solidFill>
                  <a:srgbClr val="F2EFE6"/>
                </a:solidFill>
                <a:latin typeface="Noto Sans CJK JP"/>
                <a:ea typeface="Noto Sans CJK JP"/>
              </a:rPr>
              <a:t>・①②のパイプラインを別題材で事前リハーサル済み(初回題材でのぶっつけ本番にしない)</a:t>
            </a:r>
          </a:p>
          <a:p>
            <a:pPr algn="l">
              <a:spcAft>
                <a:spcPts val="402"/>
              </a:spcAft>
            </a:pPr>
            <a:r>
              <a:rPr sz="1150" b="0">
                <a:solidFill>
                  <a:srgbClr val="F2EFE6"/>
                </a:solidFill>
                <a:latin typeface="Noto Sans CJK JP"/>
                <a:ea typeface="Noto Sans CJK JP"/>
              </a:rPr>
              <a:t>・承認・検品(仕様承認・生成画像の監修)が即日レスポンス(律速は AI の生成時間ではなく人の往復)</a:t>
            </a:r>
          </a:p>
          <a:p>
            <a:pPr algn="l">
              <a:spcAft>
                <a:spcPts val="402"/>
              </a:spcAft>
            </a:pPr>
            <a:r>
              <a:rPr sz="1150" b="0">
                <a:solidFill>
                  <a:srgbClr val="F2EFE6"/>
                </a:solidFill>
                <a:latin typeface="Noto Sans CJK JP"/>
                <a:ea typeface="Noto Sans CJK JP"/>
              </a:rPr>
              <a:t>・スコープを「肝」に固定(全演出・全モード・型式試験対応はプレゼン後の本開発で対応)</a:t>
            </a:r>
          </a:p>
          <a:p>
            <a:pPr algn="l">
              <a:spcAft>
                <a:spcPts val="402"/>
              </a:spcAft>
            </a:pPr>
            <a:r>
              <a:rPr sz="1150" b="0">
                <a:solidFill>
                  <a:srgbClr val="F2EFE6"/>
                </a:solidFill>
                <a:latin typeface="Noto Sans CJK JP"/>
                <a:ea typeface="Noto Sans CJK JP"/>
              </a:rPr>
              <a:t>・生成リトライ(モデレーション・顔ドリフト検品)と実機固有の不具合切り分けに予備日を確保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806440"/>
            <a:ext cx="11551615" cy="868680"/>
          </a:xfrm>
          <a:prstGeom prst="rect">
            <a:avLst/>
          </a:prstGeom>
          <a:solidFill>
            <a:srgbClr val="2B2440"/>
          </a:solidFill>
          <a:ln w="12700">
            <a:solidFill>
              <a:srgbClr val="D9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8704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E8A83C"/>
                </a:solidFill>
                <a:latin typeface="Noto Sans CJK JP"/>
                <a:ea typeface="Noto Sans CJK JP"/>
              </a:rPr>
              <a:t>試算: 通算 約 10〜15 日。前提条件が揃えば「2 週間で肝が動く」は達成圏内(実働は並行処理する AI エージェント側でなく、承認往復と実機作業が律速)</a:t>
            </a:r>
          </a:p>
          <a:p>
            <a:pPr algn="l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※ 計画としては予備 1 週間を加えた 3 週間で組み、プレゼン日程には 2 週間 + バッファを見込むのが安全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63500" cy="512064"/>
          </a:xfrm>
          <a:prstGeom prst="rect">
            <a:avLst/>
          </a:prstGeom>
          <a:solidFill>
            <a:srgbClr val="C0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3152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>
                <a:solidFill>
                  <a:srgbClr val="D9B44A"/>
                </a:solidFill>
                <a:latin typeface="Noto Sans CJK JP"/>
                <a:ea typeface="Noto Sans CJK JP"/>
              </a:rPr>
              <a:t>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3152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19"/>
              </a:spcAft>
            </a:pPr>
            <a:r>
              <a:rPr sz="1200" b="0">
                <a:solidFill>
                  <a:srgbClr val="B9B2C8"/>
                </a:solidFill>
                <a:latin typeface="Noto Sans CJK JP"/>
                <a:ea typeface="Noto Sans CJK JP"/>
              </a:rPr>
              <a:t>ロードマップ</a:t>
            </a:r>
          </a:p>
        </p:txBody>
      </p:sp>
      <p:pic>
        <p:nvPicPr>
          <p:cNvPr id="8" name="Picture 7" descr="bat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44441"/>
            <a:ext cx="5166360" cy="2906077"/>
          </a:xfrm>
          <a:prstGeom prst="rect">
            <a:avLst/>
          </a:prstGeom>
          <a:ln w="15875">
            <a:solidFill>
              <a:srgbClr val="D9B4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0" y="416052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67"/>
              </a:spcAft>
            </a:pPr>
            <a:r>
              <a:rPr sz="1050" b="0">
                <a:solidFill>
                  <a:srgbClr val="B9B2C8"/>
                </a:solidFill>
                <a:latin typeface="Noto Sans CJK JP"/>
                <a:ea typeface="Noto Sans CJK JP"/>
              </a:rPr>
              <a:t>義経 × 頼朝 — 上位 AT バトル(AI 生成)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D9B44A"/>
                </a:solidFill>
                <a:latin typeface="Noto Sans CJK JP"/>
                <a:ea typeface="Noto Sans CJK JP"/>
              </a:rPr>
              <a:t>■ 現在地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・ゲーム本体(リール制御〜演出〜exe 化)は完成。演出素材の制作・組込みフェーズ</a:t>
            </a:r>
          </a:p>
          <a:p>
            <a:pPr algn="l">
              <a:spcAft>
                <a:spcPts val="594"/>
              </a:spcAft>
            </a:pPr>
            <a:r>
              <a:rPr sz="1700" b="1">
                <a:solidFill>
                  <a:srgbClr val="D9B44A"/>
                </a:solidFill>
                <a:latin typeface="Noto Sans CJK JP"/>
                <a:ea typeface="Noto Sans CJK JP"/>
              </a:rPr>
              <a:t>■ 短期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・残り予告素材の制作・組込み / STEP 6 の永続化ほか / Windows 実機確認</a:t>
            </a:r>
          </a:p>
          <a:p>
            <a:pPr algn="l">
              <a:spcAft>
                <a:spcPts val="594"/>
              </a:spcAft>
            </a:pPr>
            <a:r>
              <a:rPr sz="1700" b="1">
                <a:solidFill>
                  <a:srgbClr val="D9B44A"/>
                </a:solidFill>
                <a:latin typeface="Noto Sans CJK JP"/>
                <a:ea typeface="Noto Sans CJK JP"/>
              </a:rPr>
              <a:t>■ 中期(応用 ①)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・アニメ版権素材を起点にした演出・仕様の自動生成パイプライン化</a:t>
            </a:r>
          </a:p>
          <a:p>
            <a:pPr algn="l">
              <a:spcAft>
                <a:spcPts val="594"/>
              </a:spcAft>
            </a:pPr>
            <a:r>
              <a:rPr sz="1700" b="1">
                <a:solidFill>
                  <a:srgbClr val="D9B44A"/>
                </a:solidFill>
                <a:latin typeface="Noto Sans CJK JP"/>
                <a:ea typeface="Noto Sans CJK JP"/>
              </a:rPr>
              <a:t>■ 長期(応用 ②)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・C 言語 / アセンブラへの移植と実機 ROM 化(型式試験対応を見据えた設計)</a:t>
            </a:r>
          </a:p>
          <a:p>
            <a:pPr algn="l">
              <a:spcAft>
                <a:spcPts val="594"/>
              </a:spcAft>
            </a:pPr>
            <a:r>
              <a:rPr sz="1700" b="1">
                <a:solidFill>
                  <a:srgbClr val="D9B44A"/>
                </a:solidFill>
                <a:latin typeface="Noto Sans CJK JP"/>
                <a:ea typeface="Noto Sans CJK JP"/>
              </a:rPr>
              <a:t>■ 最終目的(応用 ③)</a:t>
            </a:r>
          </a:p>
          <a:p>
            <a:pPr algn="l">
              <a:spcAft>
                <a:spcPts val="472"/>
              </a:spcAft>
            </a:pPr>
            <a:r>
              <a:rPr sz="1350" b="0">
                <a:solidFill>
                  <a:srgbClr val="F2EFE6"/>
                </a:solidFill>
                <a:latin typeface="Noto Sans CJK JP"/>
                <a:ea typeface="Noto Sans CJK JP"/>
              </a:rPr>
              <a:t>・版権取得プレゼン時に実機デモを提示 — 素材受領から約 2 週間で「肝」が動く体制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989320"/>
            <a:ext cx="11551615" cy="31750"/>
          </a:xfrm>
          <a:prstGeom prst="rect">
            <a:avLst/>
          </a:prstGeom>
          <a:solidFill>
            <a:srgbClr val="D9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1722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2EFE6"/>
                </a:solidFill>
                <a:latin typeface="Noto Sans CJK JP"/>
                <a:ea typeface="Noto Sans CJK JP"/>
              </a:rPr>
              <a:t>AI エージェント駆動開発で「仕様 → 実装 → 素材 → 実機」までを一気通貫に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